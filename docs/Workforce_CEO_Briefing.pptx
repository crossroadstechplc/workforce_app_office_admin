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0058400" cy="3200400"/>
          </a:xfrm>
          <a:prstGeom prst="rect">
            <a:avLst/>
          </a:prstGeom>
          <a:noFill/>
        </p:spPr>
        <p:txBody>
          <a:bodyPr wrap="none">
            <a:spAutoFit/>
          </a:bodyPr>
          <a:lstStyle/>
          <a:p>
            <a:r>
              <a:rPr sz="1800" b="1">
                <a:solidFill>
                  <a:srgbClr val="1A6B6B"/>
                </a:solidFill>
                <a:latin typeface="Calibri"/>
              </a:rPr>
              <a:t>WORKFORCE</a:t>
            </a:r>
          </a:p>
          <a:p>
            <a:r>
              <a:rPr sz="3600" b="1">
                <a:solidFill>
                  <a:srgbClr val="FFFFFF"/>
                </a:solidFill>
                <a:latin typeface="Calibri"/>
              </a:rPr>
              <a:t>Office Attendance &amp; People Operations</a:t>
            </a:r>
          </a:p>
          <a:p>
            <a:r>
              <a:rPr sz="1600" b="0">
                <a:solidFill>
                  <a:srgbClr val="B8C5CD"/>
                </a:solidFill>
                <a:latin typeface="Calibri"/>
              </a:rPr>
              <a:t>CEO briefing: how the system works, what it solves,
and the foundation for long-term growth</a:t>
            </a:r>
          </a:p>
          <a:p>
            <a:pPr>
              <a:spcBef>
                <a:spcPts val="2400"/>
              </a:spcBef>
            </a:pPr>
            <a:r>
              <a:rPr sz="1300" b="0">
                <a:solidFill>
                  <a:srgbClr val="1A6B6B"/>
                </a:solidFill>
                <a:latin typeface="Calibri"/>
              </a:rPr>
              <a:t>Simple to understand  ·  Strong operational foundation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What this project is</a:t>
            </a:r>
          </a:p>
          <a:p>
            <a:r>
              <a:rPr sz="1400" b="0">
                <a:solidFill>
                  <a:srgbClr val="5A6B75"/>
                </a:solidFill>
                <a:latin typeface="Calibri"/>
              </a:rPr>
              <a:t>One clear purpose</a:t>
            </a:r>
          </a:p>
        </p:txBody>
      </p:sp>
      <p:sp>
        <p:nvSpPr>
          <p:cNvPr id="5" name="Rounded Rectangle 4"/>
          <p:cNvSpPr/>
          <p:nvPr/>
        </p:nvSpPr>
        <p:spPr>
          <a:xfrm>
            <a:off x="640080" y="1828800"/>
            <a:ext cx="10972800" cy="292608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86000"/>
            <a:ext cx="10241280" cy="2011680"/>
          </a:xfrm>
          <a:prstGeom prst="rect">
            <a:avLst/>
          </a:prstGeom>
          <a:noFill/>
        </p:spPr>
        <p:txBody>
          <a:bodyPr wrap="square">
            <a:spAutoFit/>
          </a:bodyPr>
          <a:lstStyle/>
          <a:p>
            <a:r>
              <a:rPr sz="2000" b="0">
                <a:solidFill>
                  <a:srgbClr val="0F2A3D"/>
                </a:solidFill>
                <a:latin typeface="Calibri"/>
              </a:rPr>
              <a:t>Workforce proves people are at the office when they should be, helps managers see who is present, late, or missing checkout, and connects the same company people into chat, daily tasks, and performance — without spreadsheets and guesswork.</a:t>
            </a:r>
          </a:p>
        </p:txBody>
      </p:sp>
      <p:sp>
        <p:nvSpPr>
          <p:cNvPr id="7" name="TextBox 6"/>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2/15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Main problems we solve</a:t>
            </a:r>
          </a:p>
          <a:p>
            <a:r>
              <a:rPr sz="1400" b="0">
                <a:solidFill>
                  <a:srgbClr val="5A6B75"/>
                </a:solidFill>
                <a:latin typeface="Calibri"/>
              </a:rPr>
              <a:t>Why the business needs this</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600" b="0">
                <a:solidFill>
                  <a:srgbClr val="0F2A3D"/>
                </a:solidFill>
                <a:latin typeface="Calibri"/>
              </a:rPr>
              <a:t>•  No reliable proof that staff are physically at the office</a:t>
            </a:r>
          </a:p>
          <a:p>
            <a:pPr>
              <a:spcAft>
                <a:spcPts val="1000"/>
              </a:spcAft>
            </a:pPr>
            <a:r>
              <a:rPr sz="1600" b="0">
                <a:solidFill>
                  <a:srgbClr val="0F2A3D"/>
                </a:solidFill>
                <a:latin typeface="Calibri"/>
              </a:rPr>
              <a:t>•  Managers waste time asking “who is in / late / forgot to leave?”</a:t>
            </a:r>
          </a:p>
          <a:p>
            <a:pPr>
              <a:spcAft>
                <a:spcPts val="1000"/>
              </a:spcAft>
            </a:pPr>
            <a:r>
              <a:rPr sz="1600" b="0">
                <a:solidFill>
                  <a:srgbClr val="0F2A3D"/>
                </a:solidFill>
                <a:latin typeface="Calibri"/>
              </a:rPr>
              <a:t>•  Leave, holidays, and attendance conflict or live in separate tools</a:t>
            </a:r>
          </a:p>
          <a:p>
            <a:pPr>
              <a:spcAft>
                <a:spcPts val="1000"/>
              </a:spcAft>
            </a:pPr>
            <a:r>
              <a:rPr sz="1600" b="0">
                <a:solidFill>
                  <a:srgbClr val="0F2A3D"/>
                </a:solidFill>
                <a:latin typeface="Calibri"/>
              </a:rPr>
              <a:t>•  Task work and performance sit outside the same people record</a:t>
            </a:r>
          </a:p>
          <a:p>
            <a:pPr>
              <a:spcAft>
                <a:spcPts val="1000"/>
              </a:spcAft>
            </a:pPr>
            <a:r>
              <a:rPr sz="1600" b="0">
                <a:solidFill>
                  <a:srgbClr val="0F2A3D"/>
                </a:solidFill>
                <a:latin typeface="Calibri"/>
              </a:rPr>
              <a:t>•  Lobby boards and reports require manual updates</a:t>
            </a:r>
          </a:p>
          <a:p>
            <a:pPr>
              <a:spcAft>
                <a:spcPts val="1000"/>
              </a:spcAft>
            </a:pPr>
            <a:r>
              <a:rPr sz="1600" b="0">
                <a:solidFill>
                  <a:srgbClr val="0F2A3D"/>
                </a:solidFill>
                <a:latin typeface="Calibri"/>
              </a:rPr>
              <a:t>•  Growing companies need one system of truth per office and company</a:t>
            </a:r>
          </a:p>
        </p:txBody>
      </p:sp>
      <p:sp>
        <p:nvSpPr>
          <p:cNvPr id="6" name="TextBox 5"/>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3/15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Four surfaces — one system</a:t>
            </a:r>
          </a:p>
          <a:p>
            <a:r>
              <a:rPr sz="1400" b="0">
                <a:solidFill>
                  <a:srgbClr val="5A6B75"/>
                </a:solidFill>
                <a:latin typeface="Calibri"/>
              </a:rPr>
              <a:t>Each role gets the right tool</a:t>
            </a:r>
          </a:p>
        </p:txBody>
      </p:sp>
      <p:sp>
        <p:nvSpPr>
          <p:cNvPr id="5" name="Rounded Rectangle 4"/>
          <p:cNvSpPr/>
          <p:nvPr/>
        </p:nvSpPr>
        <p:spPr>
          <a:xfrm>
            <a:off x="411480" y="1463040"/>
            <a:ext cx="2743200" cy="420624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463040"/>
            <a:ext cx="2743200"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2377440" cy="3474720"/>
          </a:xfrm>
          <a:prstGeom prst="rect">
            <a:avLst/>
          </a:prstGeom>
          <a:noFill/>
        </p:spPr>
        <p:txBody>
          <a:bodyPr wrap="square">
            <a:spAutoFit/>
          </a:bodyPr>
          <a:lstStyle/>
          <a:p>
            <a:r>
              <a:rPr sz="1600" b="1">
                <a:solidFill>
                  <a:srgbClr val="0F2A3D"/>
                </a:solidFill>
                <a:latin typeface="Calibri"/>
              </a:rPr>
              <a:t>Workforce Control</a:t>
            </a:r>
          </a:p>
          <a:p>
            <a:pPr>
              <a:spcBef>
                <a:spcPts val="1400"/>
              </a:spcBef>
            </a:pPr>
            <a:r>
              <a:rPr sz="1300" b="0">
                <a:solidFill>
                  <a:srgbClr val="5A6B75"/>
                </a:solidFill>
                <a:latin typeface="Calibri"/>
              </a:rPr>
              <a:t>Admins configure offices,
schedules, staff, leave,
reports &amp; performance</a:t>
            </a:r>
          </a:p>
        </p:txBody>
      </p:sp>
      <p:sp>
        <p:nvSpPr>
          <p:cNvPr id="8" name="Rounded Rectangle 7"/>
          <p:cNvSpPr/>
          <p:nvPr/>
        </p:nvSpPr>
        <p:spPr>
          <a:xfrm>
            <a:off x="3337560" y="1463040"/>
            <a:ext cx="2743200" cy="420624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37560" y="1463040"/>
            <a:ext cx="2743200"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828800"/>
            <a:ext cx="2377440" cy="3474720"/>
          </a:xfrm>
          <a:prstGeom prst="rect">
            <a:avLst/>
          </a:prstGeom>
          <a:noFill/>
        </p:spPr>
        <p:txBody>
          <a:bodyPr wrap="square">
            <a:spAutoFit/>
          </a:bodyPr>
          <a:lstStyle/>
          <a:p>
            <a:r>
              <a:rPr sz="1600" b="1">
                <a:solidFill>
                  <a:srgbClr val="0F2A3D"/>
                </a:solidFill>
                <a:latin typeface="Calibri"/>
              </a:rPr>
              <a:t>Work-Force App</a:t>
            </a:r>
          </a:p>
          <a:p>
            <a:pPr>
              <a:spcBef>
                <a:spcPts val="1400"/>
              </a:spcBef>
            </a:pPr>
            <a:r>
              <a:rPr sz="1300" b="0">
                <a:solidFill>
                  <a:srgbClr val="5A6B75"/>
                </a:solidFill>
                <a:latin typeface="Calibri"/>
              </a:rPr>
              <a:t>Employees check in/out
with location, request
leave, chat, see reviews</a:t>
            </a:r>
          </a:p>
        </p:txBody>
      </p:sp>
      <p:sp>
        <p:nvSpPr>
          <p:cNvPr id="11" name="Rounded Rectangle 10"/>
          <p:cNvSpPr/>
          <p:nvPr/>
        </p:nvSpPr>
        <p:spPr>
          <a:xfrm>
            <a:off x="6263640" y="1463040"/>
            <a:ext cx="2743200" cy="420624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463040"/>
            <a:ext cx="2743200"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28800"/>
            <a:ext cx="2377440" cy="3474720"/>
          </a:xfrm>
          <a:prstGeom prst="rect">
            <a:avLst/>
          </a:prstGeom>
          <a:noFill/>
        </p:spPr>
        <p:txBody>
          <a:bodyPr wrap="square">
            <a:spAutoFit/>
          </a:bodyPr>
          <a:lstStyle/>
          <a:p>
            <a:r>
              <a:rPr sz="1600" b="1">
                <a:solidFill>
                  <a:srgbClr val="0F2A3D"/>
                </a:solidFill>
                <a:latin typeface="Calibri"/>
              </a:rPr>
              <a:t>Office Display</a:t>
            </a:r>
          </a:p>
          <a:p>
            <a:pPr>
              <a:spcBef>
                <a:spcPts val="1400"/>
              </a:spcBef>
            </a:pPr>
            <a:r>
              <a:rPr sz="1300" b="0">
                <a:solidFill>
                  <a:srgbClr val="5A6B75"/>
                </a:solidFill>
                <a:latin typeface="Calibri"/>
              </a:rPr>
              <a:t>Lobby tablets show
who is present today
and meeting rooms</a:t>
            </a:r>
          </a:p>
        </p:txBody>
      </p:sp>
      <p:sp>
        <p:nvSpPr>
          <p:cNvPr id="14" name="Rounded Rectangle 13"/>
          <p:cNvSpPr/>
          <p:nvPr/>
        </p:nvSpPr>
        <p:spPr>
          <a:xfrm>
            <a:off x="9189720" y="1463040"/>
            <a:ext cx="2743200" cy="420624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89720" y="1463040"/>
            <a:ext cx="2743200"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72600" y="1828800"/>
            <a:ext cx="2377440" cy="3474720"/>
          </a:xfrm>
          <a:prstGeom prst="rect">
            <a:avLst/>
          </a:prstGeom>
          <a:noFill/>
        </p:spPr>
        <p:txBody>
          <a:bodyPr wrap="square">
            <a:spAutoFit/>
          </a:bodyPr>
          <a:lstStyle/>
          <a:p>
            <a:r>
              <a:rPr sz="1600" b="1">
                <a:solidFill>
                  <a:srgbClr val="0F2A3D"/>
                </a:solidFill>
                <a:latin typeface="Calibri"/>
              </a:rPr>
              <a:t>Task Operations</a:t>
            </a:r>
          </a:p>
          <a:p>
            <a:pPr>
              <a:spcBef>
                <a:spcPts val="1400"/>
              </a:spcBef>
            </a:pPr>
            <a:r>
              <a:rPr sz="1300" b="0">
                <a:solidFill>
                  <a:srgbClr val="5A6B75"/>
                </a:solidFill>
                <a:latin typeface="Calibri"/>
              </a:rPr>
              <a:t>Same company people
run projects &amp; boards
without a second login world</a:t>
            </a:r>
          </a:p>
        </p:txBody>
      </p:sp>
      <p:sp>
        <p:nvSpPr>
          <p:cNvPr id="17" name="TextBox 16"/>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4/15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Office setup — the foundation</a:t>
            </a:r>
          </a:p>
          <a:p>
            <a:r>
              <a:rPr sz="1400" b="0">
                <a:solidFill>
                  <a:srgbClr val="5A6B75"/>
                </a:solidFill>
                <a:latin typeface="Calibri"/>
              </a:rPr>
              <a:t>Correct setup once → every day works automatically</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500" b="0">
                <a:solidFill>
                  <a:srgbClr val="0F2A3D"/>
                </a:solidFill>
                <a:latin typeface="Calibri"/>
              </a:rPr>
              <a:t>•  Create company (organization) → add offices on a map with allowed GPS radius</a:t>
            </a:r>
          </a:p>
          <a:p>
            <a:pPr>
              <a:spcAft>
                <a:spcPts val="1000"/>
              </a:spcAft>
            </a:pPr>
            <a:r>
              <a:rPr sz="1500" b="0">
                <a:solidFill>
                  <a:srgbClr val="0F2A3D"/>
                </a:solidFill>
                <a:latin typeface="Calibri"/>
              </a:rPr>
              <a:t>•  Define work schedules (check-in / check-out times per weekday)</a:t>
            </a:r>
          </a:p>
          <a:p>
            <a:pPr>
              <a:spcAft>
                <a:spcPts val="1000"/>
              </a:spcAft>
            </a:pPr>
            <a:r>
              <a:rPr sz="1500" b="0">
                <a:solidFill>
                  <a:srgbClr val="0F2A3D"/>
                </a:solidFill>
                <a:latin typeface="Calibri"/>
              </a:rPr>
              <a:t>•  Add departments and employees; each person is linked to one office + schedule</a:t>
            </a:r>
          </a:p>
          <a:p>
            <a:pPr>
              <a:spcAft>
                <a:spcPts val="1000"/>
              </a:spcAft>
            </a:pPr>
            <a:r>
              <a:rPr sz="1500" b="0">
                <a:solidFill>
                  <a:srgbClr val="0F2A3D"/>
                </a:solidFill>
                <a:latin typeface="Calibri"/>
              </a:rPr>
              <a:t>•  Set company rules: photo required, auto-checkout, desktop location options</a:t>
            </a:r>
          </a:p>
          <a:p>
            <a:pPr>
              <a:spcAft>
                <a:spcPts val="1000"/>
              </a:spcAft>
            </a:pPr>
            <a:r>
              <a:rPr sz="1500" b="0">
                <a:solidFill>
                  <a:srgbClr val="0F2A3D"/>
                </a:solidFill>
                <a:latin typeface="Calibri"/>
              </a:rPr>
              <a:t>•  Assign office admins for day-to-day control of their site(s)</a:t>
            </a:r>
          </a:p>
          <a:p>
            <a:pPr>
              <a:spcAft>
                <a:spcPts val="1000"/>
              </a:spcAft>
            </a:pPr>
            <a:r>
              <a:rPr sz="1500" b="0">
                <a:solidFill>
                  <a:srgbClr val="0F2A3D"/>
                </a:solidFill>
                <a:latin typeface="Calibri"/>
              </a:rPr>
              <a:t>•  Invite staff — they join the right office with the right rules from day one</a:t>
            </a:r>
          </a:p>
        </p:txBody>
      </p:sp>
      <p:sp>
        <p:nvSpPr>
          <p:cNvPr id="6" name="TextBox 5"/>
          <p:cNvSpPr txBox="1"/>
          <p:nvPr/>
        </p:nvSpPr>
        <p:spPr>
          <a:xfrm>
            <a:off x="548640" y="5669280"/>
            <a:ext cx="10972800" cy="457200"/>
          </a:xfrm>
          <a:prstGeom prst="rect">
            <a:avLst/>
          </a:prstGeom>
          <a:noFill/>
        </p:spPr>
        <p:txBody>
          <a:bodyPr wrap="none">
            <a:spAutoFit/>
          </a:bodyPr>
          <a:lstStyle/>
          <a:p>
            <a:r>
              <a:rPr sz="1300" b="1">
                <a:solidFill>
                  <a:srgbClr val="C45C26"/>
                </a:solidFill>
                <a:latin typeface="Calibri"/>
              </a:rPr>
              <a:t>Key idea: Office + Schedule = the rules of attendance. Everything else builds on this.</a:t>
            </a:r>
          </a:p>
        </p:txBody>
      </p:sp>
      <p:sp>
        <p:nvSpPr>
          <p:cNvPr id="7" name="TextBox 6"/>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5/15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Daily check-in / check-out</a:t>
            </a:r>
          </a:p>
          <a:p>
            <a:r>
              <a:rPr sz="1400" b="0">
                <a:solidFill>
                  <a:srgbClr val="5A6B75"/>
                </a:solidFill>
                <a:latin typeface="Calibri"/>
              </a:rPr>
              <a:t>How attendance actually works</a:t>
            </a:r>
          </a:p>
        </p:txBody>
      </p:sp>
      <p:sp>
        <p:nvSpPr>
          <p:cNvPr id="5" name="Oval 4"/>
          <p:cNvSpPr/>
          <p:nvPr/>
        </p:nvSpPr>
        <p:spPr>
          <a:xfrm>
            <a:off x="1143000" y="1417320"/>
            <a:ext cx="502920" cy="502920"/>
          </a:xfrm>
          <a:prstGeom prst="ellipse">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481328"/>
            <a:ext cx="502920" cy="411480"/>
          </a:xfrm>
          <a:prstGeom prst="rect">
            <a:avLst/>
          </a:prstGeom>
          <a:noFill/>
        </p:spPr>
        <p:txBody>
          <a:bodyPr wrap="none">
            <a:spAutoFit/>
          </a:bodyPr>
          <a:lstStyle/>
          <a:p>
            <a:pPr algn="ctr"/>
            <a:r>
              <a:rPr sz="1400" b="1">
                <a:solidFill>
                  <a:srgbClr val="FFFFFF"/>
                </a:solidFill>
                <a:latin typeface="Calibri"/>
              </a:rPr>
              <a:t>1</a:t>
            </a:r>
          </a:p>
        </p:txBody>
      </p:sp>
      <p:sp>
        <p:nvSpPr>
          <p:cNvPr id="7" name="Rounded Rectangle 6"/>
          <p:cNvSpPr/>
          <p:nvPr/>
        </p:nvSpPr>
        <p:spPr>
          <a:xfrm>
            <a:off x="365760" y="2148840"/>
            <a:ext cx="2194560" cy="320040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377440"/>
            <a:ext cx="1920240" cy="2743200"/>
          </a:xfrm>
          <a:prstGeom prst="rect">
            <a:avLst/>
          </a:prstGeom>
          <a:noFill/>
        </p:spPr>
        <p:txBody>
          <a:bodyPr wrap="square">
            <a:spAutoFit/>
          </a:bodyPr>
          <a:lstStyle/>
          <a:p>
            <a:r>
              <a:rPr sz="1500" b="1">
                <a:solidFill>
                  <a:srgbClr val="0F2A3D"/>
                </a:solidFill>
                <a:latin typeface="Calibri"/>
              </a:rPr>
              <a:t>Preview</a:t>
            </a:r>
          </a:p>
          <a:p>
            <a:pPr>
              <a:spcBef>
                <a:spcPts val="1000"/>
              </a:spcBef>
            </a:pPr>
            <a:r>
              <a:rPr sz="1200" b="0">
                <a:solidFill>
                  <a:srgbClr val="5A6B75"/>
                </a:solidFill>
                <a:latin typeface="Calibri"/>
              </a:rPr>
              <a:t>Employee opens app
and confirms location</a:t>
            </a:r>
          </a:p>
        </p:txBody>
      </p:sp>
      <p:sp>
        <p:nvSpPr>
          <p:cNvPr id="9" name="Oval 8"/>
          <p:cNvSpPr/>
          <p:nvPr/>
        </p:nvSpPr>
        <p:spPr>
          <a:xfrm>
            <a:off x="3474720" y="1417320"/>
            <a:ext cx="502920" cy="502920"/>
          </a:xfrm>
          <a:prstGeom prst="ellipse">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481328"/>
            <a:ext cx="502920" cy="411480"/>
          </a:xfrm>
          <a:prstGeom prst="rect">
            <a:avLst/>
          </a:prstGeom>
          <a:noFill/>
        </p:spPr>
        <p:txBody>
          <a:bodyPr wrap="none">
            <a:spAutoFit/>
          </a:bodyPr>
          <a:lstStyle/>
          <a:p>
            <a:pPr algn="ctr"/>
            <a:r>
              <a:rPr sz="1400" b="1">
                <a:solidFill>
                  <a:srgbClr val="FFFFFF"/>
                </a:solidFill>
                <a:latin typeface="Calibri"/>
              </a:rPr>
              <a:t>2</a:t>
            </a:r>
          </a:p>
        </p:txBody>
      </p:sp>
      <p:sp>
        <p:nvSpPr>
          <p:cNvPr id="11" name="Rounded Rectangle 10"/>
          <p:cNvSpPr/>
          <p:nvPr/>
        </p:nvSpPr>
        <p:spPr>
          <a:xfrm>
            <a:off x="2697479" y="2148840"/>
            <a:ext cx="2194560" cy="320040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39" y="2377440"/>
            <a:ext cx="1920240" cy="2743200"/>
          </a:xfrm>
          <a:prstGeom prst="rect">
            <a:avLst/>
          </a:prstGeom>
          <a:noFill/>
        </p:spPr>
        <p:txBody>
          <a:bodyPr wrap="square">
            <a:spAutoFit/>
          </a:bodyPr>
          <a:lstStyle/>
          <a:p>
            <a:r>
              <a:rPr sz="1500" b="1">
                <a:solidFill>
                  <a:srgbClr val="0F2A3D"/>
                </a:solidFill>
                <a:latin typeface="Calibri"/>
              </a:rPr>
              <a:t>Check in</a:t>
            </a:r>
          </a:p>
          <a:p>
            <a:pPr>
              <a:spcBef>
                <a:spcPts val="1000"/>
              </a:spcBef>
            </a:pPr>
            <a:r>
              <a:rPr sz="1200" b="0">
                <a:solidFill>
                  <a:srgbClr val="5A6B75"/>
                </a:solidFill>
                <a:latin typeface="Calibri"/>
              </a:rPr>
              <a:t>GPS must be inside
office radius (+ photo)</a:t>
            </a:r>
          </a:p>
        </p:txBody>
      </p:sp>
      <p:sp>
        <p:nvSpPr>
          <p:cNvPr id="13" name="Oval 12"/>
          <p:cNvSpPr/>
          <p:nvPr/>
        </p:nvSpPr>
        <p:spPr>
          <a:xfrm>
            <a:off x="5806440" y="1417320"/>
            <a:ext cx="502920" cy="502920"/>
          </a:xfrm>
          <a:prstGeom prst="ellipse">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06440" y="1481328"/>
            <a:ext cx="502920" cy="411480"/>
          </a:xfrm>
          <a:prstGeom prst="rect">
            <a:avLst/>
          </a:prstGeom>
          <a:noFill/>
        </p:spPr>
        <p:txBody>
          <a:bodyPr wrap="none">
            <a:spAutoFit/>
          </a:bodyPr>
          <a:lstStyle/>
          <a:p>
            <a:pPr algn="ctr"/>
            <a:r>
              <a:rPr sz="1400" b="1">
                <a:solidFill>
                  <a:srgbClr val="FFFFFF"/>
                </a:solidFill>
                <a:latin typeface="Calibri"/>
              </a:rPr>
              <a:t>3</a:t>
            </a:r>
          </a:p>
        </p:txBody>
      </p:sp>
      <p:sp>
        <p:nvSpPr>
          <p:cNvPr id="15" name="Rounded Rectangle 14"/>
          <p:cNvSpPr/>
          <p:nvPr/>
        </p:nvSpPr>
        <p:spPr>
          <a:xfrm>
            <a:off x="5029200" y="2148840"/>
            <a:ext cx="2194560" cy="320040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60" y="2377440"/>
            <a:ext cx="1920240" cy="2743200"/>
          </a:xfrm>
          <a:prstGeom prst="rect">
            <a:avLst/>
          </a:prstGeom>
          <a:noFill/>
        </p:spPr>
        <p:txBody>
          <a:bodyPr wrap="square">
            <a:spAutoFit/>
          </a:bodyPr>
          <a:lstStyle/>
          <a:p>
            <a:r>
              <a:rPr sz="1500" b="1">
                <a:solidFill>
                  <a:srgbClr val="0F2A3D"/>
                </a:solidFill>
                <a:latin typeface="Calibri"/>
              </a:rPr>
              <a:t>Work day</a:t>
            </a:r>
          </a:p>
          <a:p>
            <a:pPr>
              <a:spcBef>
                <a:spcPts val="1000"/>
              </a:spcBef>
            </a:pPr>
            <a:r>
              <a:rPr sz="1200" b="0">
                <a:solidFill>
                  <a:srgbClr val="5A6B75"/>
                </a:solidFill>
                <a:latin typeface="Calibri"/>
              </a:rPr>
              <a:t>Late reasons, reminders,
presence on admin &amp; display</a:t>
            </a:r>
          </a:p>
        </p:txBody>
      </p:sp>
      <p:sp>
        <p:nvSpPr>
          <p:cNvPr id="17" name="Oval 16"/>
          <p:cNvSpPr/>
          <p:nvPr/>
        </p:nvSpPr>
        <p:spPr>
          <a:xfrm>
            <a:off x="8138159" y="1417320"/>
            <a:ext cx="502920" cy="502920"/>
          </a:xfrm>
          <a:prstGeom prst="ellipse">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1481328"/>
            <a:ext cx="502920" cy="411480"/>
          </a:xfrm>
          <a:prstGeom prst="rect">
            <a:avLst/>
          </a:prstGeom>
          <a:noFill/>
        </p:spPr>
        <p:txBody>
          <a:bodyPr wrap="none">
            <a:spAutoFit/>
          </a:bodyPr>
          <a:lstStyle/>
          <a:p>
            <a:pPr algn="ctr"/>
            <a:r>
              <a:rPr sz="1400" b="1">
                <a:solidFill>
                  <a:srgbClr val="FFFFFF"/>
                </a:solidFill>
                <a:latin typeface="Calibri"/>
              </a:rPr>
              <a:t>4</a:t>
            </a:r>
          </a:p>
        </p:txBody>
      </p:sp>
      <p:sp>
        <p:nvSpPr>
          <p:cNvPr id="19" name="Rounded Rectangle 18"/>
          <p:cNvSpPr/>
          <p:nvPr/>
        </p:nvSpPr>
        <p:spPr>
          <a:xfrm>
            <a:off x="7360919" y="2148840"/>
            <a:ext cx="2194560" cy="320040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2377440"/>
            <a:ext cx="1920240" cy="2743200"/>
          </a:xfrm>
          <a:prstGeom prst="rect">
            <a:avLst/>
          </a:prstGeom>
          <a:noFill/>
        </p:spPr>
        <p:txBody>
          <a:bodyPr wrap="square">
            <a:spAutoFit/>
          </a:bodyPr>
          <a:lstStyle/>
          <a:p>
            <a:r>
              <a:rPr sz="1500" b="1">
                <a:solidFill>
                  <a:srgbClr val="0F2A3D"/>
                </a:solidFill>
                <a:latin typeface="Calibri"/>
              </a:rPr>
              <a:t>Check out</a:t>
            </a:r>
          </a:p>
          <a:p>
            <a:pPr>
              <a:spcBef>
                <a:spcPts val="1000"/>
              </a:spcBef>
            </a:pPr>
            <a:r>
              <a:rPr sz="1200" b="0">
                <a:solidFill>
                  <a:srgbClr val="5A6B75"/>
                </a:solidFill>
                <a:latin typeface="Calibri"/>
              </a:rPr>
              <a:t>Worked time recorded;
optional daily worksheet</a:t>
            </a:r>
          </a:p>
        </p:txBody>
      </p:sp>
      <p:sp>
        <p:nvSpPr>
          <p:cNvPr id="21" name="Oval 20"/>
          <p:cNvSpPr/>
          <p:nvPr/>
        </p:nvSpPr>
        <p:spPr>
          <a:xfrm>
            <a:off x="10469880" y="1417320"/>
            <a:ext cx="502920" cy="502920"/>
          </a:xfrm>
          <a:prstGeom prst="ellipse">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69880" y="1481328"/>
            <a:ext cx="502920" cy="411480"/>
          </a:xfrm>
          <a:prstGeom prst="rect">
            <a:avLst/>
          </a:prstGeom>
          <a:noFill/>
        </p:spPr>
        <p:txBody>
          <a:bodyPr wrap="none">
            <a:spAutoFit/>
          </a:bodyPr>
          <a:lstStyle/>
          <a:p>
            <a:pPr algn="ctr"/>
            <a:r>
              <a:rPr sz="1400" b="1">
                <a:solidFill>
                  <a:srgbClr val="FFFFFF"/>
                </a:solidFill>
                <a:latin typeface="Calibri"/>
              </a:rPr>
              <a:t>5</a:t>
            </a:r>
          </a:p>
        </p:txBody>
      </p:sp>
      <p:sp>
        <p:nvSpPr>
          <p:cNvPr id="23" name="Rounded Rectangle 22"/>
          <p:cNvSpPr/>
          <p:nvPr/>
        </p:nvSpPr>
        <p:spPr>
          <a:xfrm>
            <a:off x="9692640" y="2148840"/>
            <a:ext cx="2194560" cy="320040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29800" y="2377440"/>
            <a:ext cx="1920240" cy="2743200"/>
          </a:xfrm>
          <a:prstGeom prst="rect">
            <a:avLst/>
          </a:prstGeom>
          <a:noFill/>
        </p:spPr>
        <p:txBody>
          <a:bodyPr wrap="square">
            <a:spAutoFit/>
          </a:bodyPr>
          <a:lstStyle/>
          <a:p>
            <a:r>
              <a:rPr sz="1500" b="1">
                <a:solidFill>
                  <a:srgbClr val="0F2A3D"/>
                </a:solidFill>
                <a:latin typeface="Calibri"/>
              </a:rPr>
              <a:t>Safety net</a:t>
            </a:r>
          </a:p>
          <a:p>
            <a:pPr>
              <a:spcBef>
                <a:spcPts val="1000"/>
              </a:spcBef>
            </a:pPr>
            <a:r>
              <a:rPr sz="1200" b="0">
                <a:solidFill>
                  <a:srgbClr val="5A6B75"/>
                </a:solidFill>
                <a:latin typeface="Calibri"/>
              </a:rPr>
              <a:t>Auto / missing checkout
jobs close open days</a:t>
            </a:r>
          </a:p>
        </p:txBody>
      </p:sp>
      <p:sp>
        <p:nvSpPr>
          <p:cNvPr id="25" name="TextBox 24"/>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6/15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Attendance rules that keep data clean</a:t>
            </a:r>
          </a:p>
          <a:p>
            <a:r>
              <a:rPr sz="1400" b="0">
                <a:solidFill>
                  <a:srgbClr val="5A6B75"/>
                </a:solidFill>
                <a:latin typeface="Calibri"/>
              </a:rPr>
              <a:t>Trustworthy records, not vague timestamps</a:t>
            </a:r>
          </a:p>
        </p:txBody>
      </p:sp>
      <p:sp>
        <p:nvSpPr>
          <p:cNvPr id="5" name="Rounded Rectangle 4"/>
          <p:cNvSpPr/>
          <p:nvPr/>
        </p:nvSpPr>
        <p:spPr>
          <a:xfrm>
            <a:off x="502920" y="1234440"/>
            <a:ext cx="5394960" cy="475488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109728" cy="475488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63040"/>
            <a:ext cx="4846320" cy="457200"/>
          </a:xfrm>
          <a:prstGeom prst="rect">
            <a:avLst/>
          </a:prstGeom>
          <a:noFill/>
        </p:spPr>
        <p:txBody>
          <a:bodyPr wrap="none">
            <a:spAutoFit/>
          </a:bodyPr>
          <a:lstStyle/>
          <a:p>
            <a:r>
              <a:rPr sz="1800" b="1">
                <a:solidFill>
                  <a:srgbClr val="0F2A3D"/>
                </a:solidFill>
                <a:latin typeface="Calibri"/>
              </a:rPr>
              <a:t>What the system enforces</a:t>
            </a:r>
          </a:p>
        </p:txBody>
      </p:sp>
      <p:sp>
        <p:nvSpPr>
          <p:cNvPr id="8" name="TextBox 7"/>
          <p:cNvSpPr txBox="1"/>
          <p:nvPr/>
        </p:nvSpPr>
        <p:spPr>
          <a:xfrm>
            <a:off x="822960" y="2057400"/>
            <a:ext cx="4846320" cy="3657600"/>
          </a:xfrm>
          <a:prstGeom prst="rect">
            <a:avLst/>
          </a:prstGeom>
          <a:noFill/>
        </p:spPr>
        <p:txBody>
          <a:bodyPr wrap="square">
            <a:spAutoFit/>
          </a:bodyPr>
          <a:lstStyle/>
          <a:p>
            <a:pPr>
              <a:spcAft>
                <a:spcPts val="800"/>
              </a:spcAft>
            </a:pPr>
            <a:r>
              <a:rPr sz="1300" b="0">
                <a:solidFill>
                  <a:srgbClr val="0F2A3D"/>
                </a:solidFill>
                <a:latin typeface="Calibri"/>
              </a:rPr>
              <a:t>•  Must be inside the office geofence</a:t>
            </a:r>
          </a:p>
          <a:p>
            <a:pPr>
              <a:spcAft>
                <a:spcPts val="800"/>
              </a:spcAft>
            </a:pPr>
            <a:r>
              <a:rPr sz="1300" b="0">
                <a:solidFill>
                  <a:srgbClr val="0F2A3D"/>
                </a:solidFill>
                <a:latin typeface="Calibri"/>
              </a:rPr>
              <a:t>•  Blocked on approved leave or holiday</a:t>
            </a:r>
          </a:p>
          <a:p>
            <a:pPr>
              <a:spcAft>
                <a:spcPts val="800"/>
              </a:spcAft>
            </a:pPr>
            <a:r>
              <a:rPr sz="1300" b="0">
                <a:solidFill>
                  <a:srgbClr val="0F2A3D"/>
                </a:solidFill>
                <a:latin typeface="Calibri"/>
              </a:rPr>
              <a:t>•  Server time wins (not device clock)</a:t>
            </a:r>
          </a:p>
          <a:p>
            <a:pPr>
              <a:spcAft>
                <a:spcPts val="800"/>
              </a:spcAft>
            </a:pPr>
            <a:r>
              <a:rPr sz="1300" b="0">
                <a:solidFill>
                  <a:srgbClr val="0F2A3D"/>
                </a:solidFill>
                <a:latin typeface="Calibri"/>
              </a:rPr>
              <a:t>•  Late reason on first late entry</a:t>
            </a:r>
          </a:p>
          <a:p>
            <a:pPr>
              <a:spcAft>
                <a:spcPts val="800"/>
              </a:spcAft>
            </a:pPr>
            <a:r>
              <a:rPr sz="1300" b="0">
                <a:solidFill>
                  <a:srgbClr val="0F2A3D"/>
                </a:solidFill>
                <a:latin typeface="Calibri"/>
              </a:rPr>
              <a:t>•  Re-entry only after proper checkout</a:t>
            </a:r>
          </a:p>
        </p:txBody>
      </p:sp>
      <p:sp>
        <p:nvSpPr>
          <p:cNvPr id="9" name="Rounded Rectangle 8"/>
          <p:cNvSpPr/>
          <p:nvPr/>
        </p:nvSpPr>
        <p:spPr>
          <a:xfrm>
            <a:off x="6355080" y="1234440"/>
            <a:ext cx="5394960" cy="475488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234440"/>
            <a:ext cx="109728" cy="475488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463040"/>
            <a:ext cx="4846320" cy="457200"/>
          </a:xfrm>
          <a:prstGeom prst="rect">
            <a:avLst/>
          </a:prstGeom>
          <a:noFill/>
        </p:spPr>
        <p:txBody>
          <a:bodyPr wrap="none">
            <a:spAutoFit/>
          </a:bodyPr>
          <a:lstStyle/>
          <a:p>
            <a:r>
              <a:rPr sz="1800" b="1">
                <a:solidFill>
                  <a:srgbClr val="0F2A3D"/>
                </a:solidFill>
                <a:latin typeface="Calibri"/>
              </a:rPr>
              <a:t>What managers gain</a:t>
            </a:r>
          </a:p>
        </p:txBody>
      </p:sp>
      <p:sp>
        <p:nvSpPr>
          <p:cNvPr id="12" name="TextBox 11"/>
          <p:cNvSpPr txBox="1"/>
          <p:nvPr/>
        </p:nvSpPr>
        <p:spPr>
          <a:xfrm>
            <a:off x="6675120" y="2057400"/>
            <a:ext cx="4846320" cy="3657600"/>
          </a:xfrm>
          <a:prstGeom prst="rect">
            <a:avLst/>
          </a:prstGeom>
          <a:noFill/>
        </p:spPr>
        <p:txBody>
          <a:bodyPr wrap="square">
            <a:spAutoFit/>
          </a:bodyPr>
          <a:lstStyle/>
          <a:p>
            <a:pPr>
              <a:spcAft>
                <a:spcPts val="800"/>
              </a:spcAft>
            </a:pPr>
            <a:r>
              <a:rPr sz="1300" b="0">
                <a:solidFill>
                  <a:srgbClr val="0F2A3D"/>
                </a:solidFill>
                <a:latin typeface="Calibri"/>
              </a:rPr>
              <a:t>•  Who is present right now</a:t>
            </a:r>
          </a:p>
          <a:p>
            <a:pPr>
              <a:spcAft>
                <a:spcPts val="800"/>
              </a:spcAft>
            </a:pPr>
            <a:r>
              <a:rPr sz="1300" b="0">
                <a:solidFill>
                  <a:srgbClr val="0F2A3D"/>
                </a:solidFill>
                <a:latin typeface="Calibri"/>
              </a:rPr>
              <a:t>•  Late / early / overtime minutes</a:t>
            </a:r>
          </a:p>
          <a:p>
            <a:pPr>
              <a:spcAft>
                <a:spcPts val="800"/>
              </a:spcAft>
            </a:pPr>
            <a:r>
              <a:rPr sz="1300" b="0">
                <a:solidFill>
                  <a:srgbClr val="0F2A3D"/>
                </a:solidFill>
                <a:latin typeface="Calibri"/>
              </a:rPr>
              <a:t>•  Missing checkout alerts</a:t>
            </a:r>
          </a:p>
          <a:p>
            <a:pPr>
              <a:spcAft>
                <a:spcPts val="800"/>
              </a:spcAft>
            </a:pPr>
            <a:r>
              <a:rPr sz="1300" b="0">
                <a:solidFill>
                  <a:srgbClr val="0F2A3D"/>
                </a:solidFill>
                <a:latin typeface="Calibri"/>
              </a:rPr>
              <a:t>•  Correction / correctness requests</a:t>
            </a:r>
          </a:p>
          <a:p>
            <a:pPr>
              <a:spcAft>
                <a:spcPts val="800"/>
              </a:spcAft>
            </a:pPr>
            <a:r>
              <a:rPr sz="1300" b="0">
                <a:solidFill>
                  <a:srgbClr val="0F2A3D"/>
                </a:solidFill>
                <a:latin typeface="Calibri"/>
              </a:rPr>
              <a:t>•  Realtime updates to admin &amp; display</a:t>
            </a:r>
          </a:p>
        </p:txBody>
      </p:sp>
      <p:sp>
        <p:nvSpPr>
          <p:cNvPr id="13" name="TextBox 12"/>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7/15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Chat — operational messaging</a:t>
            </a:r>
          </a:p>
          <a:p>
            <a:r>
              <a:rPr sz="1400" b="0">
                <a:solidFill>
                  <a:srgbClr val="5A6B75"/>
                </a:solidFill>
                <a:latin typeface="Calibri"/>
              </a:rPr>
              <a:t>Same company people, right scope</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500" b="0">
                <a:solidFill>
                  <a:srgbClr val="0F2A3D"/>
                </a:solidFill>
                <a:latin typeface="Calibri"/>
              </a:rPr>
              <a:t>•  Direct messages, group chats, and admin ↔ employee channels</a:t>
            </a:r>
          </a:p>
          <a:p>
            <a:pPr>
              <a:spcAft>
                <a:spcPts val="1000"/>
              </a:spcAft>
            </a:pPr>
            <a:r>
              <a:rPr sz="1500" b="0">
                <a:solidFill>
                  <a:srgbClr val="0F2A3D"/>
                </a:solidFill>
                <a:latin typeface="Calibri"/>
              </a:rPr>
              <a:t>•  Scoped by company; office admins see colleagues for their office(s)</a:t>
            </a:r>
          </a:p>
          <a:p>
            <a:pPr>
              <a:spcAft>
                <a:spcPts val="1000"/>
              </a:spcAft>
            </a:pPr>
            <a:r>
              <a:rPr sz="1500" b="0">
                <a:solidFill>
                  <a:srgbClr val="0F2A3D"/>
                </a:solidFill>
                <a:latin typeface="Calibri"/>
              </a:rPr>
              <a:t>•  Not a timesheet chatbot — messaging sits beside attendance, not instead of it</a:t>
            </a:r>
          </a:p>
          <a:p>
            <a:pPr>
              <a:spcAft>
                <a:spcPts val="1000"/>
              </a:spcAft>
            </a:pPr>
            <a:r>
              <a:rPr sz="1500" b="0">
                <a:solidFill>
                  <a:srgbClr val="0F2A3D"/>
                </a:solidFill>
                <a:latin typeface="Calibri"/>
              </a:rPr>
              <a:t>•  Keeps day-to-day coordination inside Workforce (less WhatsApp sprawl for ops)</a:t>
            </a:r>
          </a:p>
          <a:p>
            <a:pPr>
              <a:spcAft>
                <a:spcPts val="1000"/>
              </a:spcAft>
            </a:pPr>
            <a:r>
              <a:rPr sz="1500" b="0">
                <a:solidFill>
                  <a:srgbClr val="0F2A3D"/>
                </a:solidFill>
                <a:latin typeface="Calibri"/>
              </a:rPr>
              <a:t>•  Same directory as attendance, tasks, and performance — one identity</a:t>
            </a:r>
          </a:p>
        </p:txBody>
      </p:sp>
      <p:sp>
        <p:nvSpPr>
          <p:cNvPr id="6" name="TextBox 5"/>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8/15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Task Operations — how daily work runs</a:t>
            </a:r>
          </a:p>
          <a:p>
            <a:r>
              <a:rPr sz="1400" b="0">
                <a:solidFill>
                  <a:srgbClr val="5A6B75"/>
                </a:solidFill>
                <a:latin typeface="Calibri"/>
              </a:rPr>
              <a:t>Projects and boards using the same HR people list</a:t>
            </a:r>
          </a:p>
        </p:txBody>
      </p:sp>
      <p:sp>
        <p:nvSpPr>
          <p:cNvPr id="5" name="Rounded Rectangle 4"/>
          <p:cNvSpPr/>
          <p:nvPr/>
        </p:nvSpPr>
        <p:spPr>
          <a:xfrm>
            <a:off x="502920" y="1234440"/>
            <a:ext cx="5394960" cy="475488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109728" cy="475488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63040"/>
            <a:ext cx="4846320" cy="457200"/>
          </a:xfrm>
          <a:prstGeom prst="rect">
            <a:avLst/>
          </a:prstGeom>
          <a:noFill/>
        </p:spPr>
        <p:txBody>
          <a:bodyPr wrap="none">
            <a:spAutoFit/>
          </a:bodyPr>
          <a:lstStyle/>
          <a:p>
            <a:r>
              <a:rPr sz="1800" b="1">
                <a:solidFill>
                  <a:srgbClr val="0F2A3D"/>
                </a:solidFill>
                <a:latin typeface="Calibri"/>
              </a:rPr>
              <a:t>What it is</a:t>
            </a:r>
          </a:p>
        </p:txBody>
      </p:sp>
      <p:sp>
        <p:nvSpPr>
          <p:cNvPr id="8" name="TextBox 7"/>
          <p:cNvSpPr txBox="1"/>
          <p:nvPr/>
        </p:nvSpPr>
        <p:spPr>
          <a:xfrm>
            <a:off x="822960" y="2057400"/>
            <a:ext cx="4846320" cy="3657600"/>
          </a:xfrm>
          <a:prstGeom prst="rect">
            <a:avLst/>
          </a:prstGeom>
          <a:noFill/>
        </p:spPr>
        <p:txBody>
          <a:bodyPr wrap="square">
            <a:spAutoFit/>
          </a:bodyPr>
          <a:lstStyle/>
          <a:p>
            <a:pPr>
              <a:spcAft>
                <a:spcPts val="800"/>
              </a:spcAft>
            </a:pPr>
            <a:r>
              <a:rPr sz="1300" b="0">
                <a:solidFill>
                  <a:srgbClr val="0F2A3D"/>
                </a:solidFill>
                <a:latin typeface="Calibri"/>
              </a:rPr>
              <a:t>•  Company task board / Kanban-style work</a:t>
            </a:r>
          </a:p>
          <a:p>
            <a:pPr>
              <a:spcAft>
                <a:spcPts val="800"/>
              </a:spcAft>
            </a:pPr>
            <a:r>
              <a:rPr sz="1300" b="0">
                <a:solidFill>
                  <a:srgbClr val="0F2A3D"/>
                </a:solidFill>
                <a:latin typeface="Calibri"/>
              </a:rPr>
              <a:t>•  Projects, schedules, and assignments</a:t>
            </a:r>
          </a:p>
          <a:p>
            <a:pPr>
              <a:spcAft>
                <a:spcPts val="800"/>
              </a:spcAft>
            </a:pPr>
            <a:r>
              <a:rPr sz="1300" b="0">
                <a:solidFill>
                  <a:srgbClr val="0F2A3D"/>
                </a:solidFill>
                <a:latin typeface="Calibri"/>
              </a:rPr>
              <a:t>•  Staff synced from Workforce employees</a:t>
            </a:r>
          </a:p>
          <a:p>
            <a:pPr>
              <a:spcAft>
                <a:spcPts val="800"/>
              </a:spcAft>
            </a:pPr>
            <a:r>
              <a:rPr sz="1300" b="0">
                <a:solidFill>
                  <a:srgbClr val="0F2A3D"/>
                </a:solidFill>
                <a:latin typeface="Calibri"/>
              </a:rPr>
              <a:t>•  Opened from admin or employee app</a:t>
            </a:r>
          </a:p>
          <a:p>
            <a:pPr>
              <a:spcAft>
                <a:spcPts val="800"/>
              </a:spcAft>
            </a:pPr>
            <a:r>
              <a:rPr sz="1300" b="0">
                <a:solidFill>
                  <a:srgbClr val="0F2A3D"/>
                </a:solidFill>
                <a:latin typeface="Calibri"/>
              </a:rPr>
              <a:t>•  Own permission levels for task work</a:t>
            </a:r>
          </a:p>
        </p:txBody>
      </p:sp>
      <p:sp>
        <p:nvSpPr>
          <p:cNvPr id="9" name="Rounded Rectangle 8"/>
          <p:cNvSpPr/>
          <p:nvPr/>
        </p:nvSpPr>
        <p:spPr>
          <a:xfrm>
            <a:off x="6355080" y="1234440"/>
            <a:ext cx="5394960" cy="475488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234440"/>
            <a:ext cx="109728" cy="475488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463040"/>
            <a:ext cx="4846320" cy="457200"/>
          </a:xfrm>
          <a:prstGeom prst="rect">
            <a:avLst/>
          </a:prstGeom>
          <a:noFill/>
        </p:spPr>
        <p:txBody>
          <a:bodyPr wrap="none">
            <a:spAutoFit/>
          </a:bodyPr>
          <a:lstStyle/>
          <a:p>
            <a:r>
              <a:rPr sz="1800" b="1">
                <a:solidFill>
                  <a:srgbClr val="0F2A3D"/>
                </a:solidFill>
                <a:latin typeface="Calibri"/>
              </a:rPr>
              <a:t>Why it matters</a:t>
            </a:r>
          </a:p>
        </p:txBody>
      </p:sp>
      <p:sp>
        <p:nvSpPr>
          <p:cNvPr id="12" name="TextBox 11"/>
          <p:cNvSpPr txBox="1"/>
          <p:nvPr/>
        </p:nvSpPr>
        <p:spPr>
          <a:xfrm>
            <a:off x="6675120" y="2057400"/>
            <a:ext cx="4846320" cy="3657600"/>
          </a:xfrm>
          <a:prstGeom prst="rect">
            <a:avLst/>
          </a:prstGeom>
          <a:noFill/>
        </p:spPr>
        <p:txBody>
          <a:bodyPr wrap="square">
            <a:spAutoFit/>
          </a:bodyPr>
          <a:lstStyle/>
          <a:p>
            <a:pPr>
              <a:spcAft>
                <a:spcPts val="800"/>
              </a:spcAft>
            </a:pPr>
            <a:r>
              <a:rPr sz="1300" b="0">
                <a:solidFill>
                  <a:srgbClr val="0F2A3D"/>
                </a:solidFill>
                <a:latin typeface="Calibri"/>
              </a:rPr>
              <a:t>•  Attendance proves presence; tasks prove output</a:t>
            </a:r>
          </a:p>
          <a:p>
            <a:pPr>
              <a:spcAft>
                <a:spcPts val="800"/>
              </a:spcAft>
            </a:pPr>
            <a:r>
              <a:rPr sz="1300" b="0">
                <a:solidFill>
                  <a:srgbClr val="0F2A3D"/>
                </a:solidFill>
                <a:latin typeface="Calibri"/>
              </a:rPr>
              <a:t>•  No second people database to maintain</a:t>
            </a:r>
          </a:p>
          <a:p>
            <a:pPr>
              <a:spcAft>
                <a:spcPts val="800"/>
              </a:spcAft>
            </a:pPr>
            <a:r>
              <a:rPr sz="1300" b="0">
                <a:solidFill>
                  <a:srgbClr val="0F2A3D"/>
                </a:solidFill>
                <a:latin typeface="Calibri"/>
              </a:rPr>
              <a:t>•  Managers see people + work in one family of tools</a:t>
            </a:r>
          </a:p>
          <a:p>
            <a:pPr>
              <a:spcAft>
                <a:spcPts val="800"/>
              </a:spcAft>
            </a:pPr>
            <a:r>
              <a:rPr sz="1300" b="0">
                <a:solidFill>
                  <a:srgbClr val="0F2A3D"/>
                </a:solidFill>
                <a:latin typeface="Calibri"/>
              </a:rPr>
              <a:t>•  Ready to grow without rebuilding identity</a:t>
            </a:r>
          </a:p>
          <a:p>
            <a:pPr>
              <a:spcAft>
                <a:spcPts val="800"/>
              </a:spcAft>
            </a:pPr>
            <a:r>
              <a:rPr sz="1300" b="0">
                <a:solidFill>
                  <a:srgbClr val="0F2A3D"/>
                </a:solidFill>
                <a:latin typeface="Calibri"/>
              </a:rPr>
              <a:t>•  Clear separation: HR rules vs task roles</a:t>
            </a:r>
          </a:p>
        </p:txBody>
      </p:sp>
      <p:sp>
        <p:nvSpPr>
          <p:cNvPr id="13" name="TextBox 12"/>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9/15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Performance — fairness with evidence</a:t>
            </a:r>
          </a:p>
          <a:p>
            <a:r>
              <a:rPr sz="1400" b="0">
                <a:solidFill>
                  <a:srgbClr val="5A6B75"/>
                </a:solidFill>
                <a:latin typeface="Calibri"/>
              </a:rPr>
              <a:t>Reviews that can use attendance reliability</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500" b="0">
                <a:solidFill>
                  <a:srgbClr val="0F2A3D"/>
                </a:solidFill>
                <a:latin typeface="Calibri"/>
              </a:rPr>
              <a:t>•  Admins run evaluation cycles with templates, scores, and goals</a:t>
            </a:r>
          </a:p>
          <a:p>
            <a:pPr>
              <a:spcAft>
                <a:spcPts val="1000"/>
              </a:spcAft>
            </a:pPr>
            <a:r>
              <a:rPr sz="1500" b="0">
                <a:solidFill>
                  <a:srgbClr val="0F2A3D"/>
                </a:solidFill>
                <a:latin typeface="Calibri"/>
              </a:rPr>
              <a:t>•  System can score reliability from attendance facts (lates, missing checkouts, worksheets, leave)</a:t>
            </a:r>
          </a:p>
          <a:p>
            <a:pPr>
              <a:spcAft>
                <a:spcPts val="1000"/>
              </a:spcAft>
            </a:pPr>
            <a:r>
              <a:rPr sz="1500" b="0">
                <a:solidFill>
                  <a:srgbClr val="0F2A3D"/>
                </a:solidFill>
                <a:latin typeface="Calibri"/>
              </a:rPr>
              <a:t>•  Employees can self-score where the company allows it</a:t>
            </a:r>
          </a:p>
          <a:p>
            <a:pPr>
              <a:spcAft>
                <a:spcPts val="1000"/>
              </a:spcAft>
            </a:pPr>
            <a:r>
              <a:rPr sz="1500" b="0">
                <a:solidFill>
                  <a:srgbClr val="0F2A3D"/>
                </a:solidFill>
                <a:latin typeface="Calibri"/>
              </a:rPr>
              <a:t>•  Connects “were you present and dependable?” to formal performance — not gut feel only</a:t>
            </a:r>
          </a:p>
          <a:p>
            <a:pPr>
              <a:spcAft>
                <a:spcPts val="1000"/>
              </a:spcAft>
            </a:pPr>
            <a:r>
              <a:rPr sz="1500" b="0">
                <a:solidFill>
                  <a:srgbClr val="0F2A3D"/>
                </a:solidFill>
                <a:latin typeface="Calibri"/>
              </a:rPr>
              <a:t>•  Same org people record — performance stays linked to the real employee</a:t>
            </a:r>
          </a:p>
        </p:txBody>
      </p:sp>
      <p:sp>
        <p:nvSpPr>
          <p:cNvPr id="6" name="TextBox 5"/>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10/15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End-to-end workflow</a:t>
            </a:r>
          </a:p>
          <a:p>
            <a:r>
              <a:rPr sz="1400" b="0">
                <a:solidFill>
                  <a:srgbClr val="5A6B75"/>
                </a:solidFill>
                <a:latin typeface="Calibri"/>
              </a:rPr>
              <a:t>From setup to long-term value</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500" b="0">
                <a:solidFill>
                  <a:srgbClr val="0F2A3D"/>
                </a:solidFill>
                <a:latin typeface="Calibri"/>
              </a:rPr>
              <a:t>•  1. Admin sets office + schedule + staff</a:t>
            </a:r>
          </a:p>
          <a:p>
            <a:pPr>
              <a:spcAft>
                <a:spcPts val="1000"/>
              </a:spcAft>
            </a:pPr>
            <a:r>
              <a:rPr sz="1500" b="0">
                <a:solidFill>
                  <a:srgbClr val="0F2A3D"/>
                </a:solidFill>
                <a:latin typeface="Calibri"/>
              </a:rPr>
              <a:t>•  2. Employee checks in / out each day</a:t>
            </a:r>
          </a:p>
          <a:p>
            <a:pPr>
              <a:spcAft>
                <a:spcPts val="1000"/>
              </a:spcAft>
            </a:pPr>
            <a:r>
              <a:rPr sz="1500" b="0">
                <a:solidFill>
                  <a:srgbClr val="0F2A3D"/>
                </a:solidFill>
                <a:latin typeface="Calibri"/>
              </a:rPr>
              <a:t>•  3. Leave &amp; holidays protect the calendar</a:t>
            </a:r>
          </a:p>
          <a:p>
            <a:pPr>
              <a:spcAft>
                <a:spcPts val="1000"/>
              </a:spcAft>
            </a:pPr>
            <a:r>
              <a:rPr sz="1500" b="0">
                <a:solidFill>
                  <a:srgbClr val="0F2A3D"/>
                </a:solidFill>
                <a:latin typeface="Calibri"/>
              </a:rPr>
              <a:t>•  4. Chat keeps the office talking</a:t>
            </a:r>
          </a:p>
          <a:p>
            <a:pPr>
              <a:spcAft>
                <a:spcPts val="1000"/>
              </a:spcAft>
            </a:pPr>
            <a:r>
              <a:rPr sz="1500" b="0">
                <a:solidFill>
                  <a:srgbClr val="0F2A3D"/>
                </a:solidFill>
                <a:latin typeface="Calibri"/>
              </a:rPr>
              <a:t>•  5. Task Operations runs the work</a:t>
            </a:r>
          </a:p>
          <a:p>
            <a:pPr>
              <a:spcAft>
                <a:spcPts val="1000"/>
              </a:spcAft>
            </a:pPr>
            <a:r>
              <a:rPr sz="1500" b="0">
                <a:solidFill>
                  <a:srgbClr val="0F2A3D"/>
                </a:solidFill>
                <a:latin typeface="Calibri"/>
              </a:rPr>
              <a:t>•  6. Performance reviews use real signals</a:t>
            </a:r>
          </a:p>
          <a:p>
            <a:pPr>
              <a:spcAft>
                <a:spcPts val="1000"/>
              </a:spcAft>
            </a:pPr>
            <a:r>
              <a:rPr sz="1500" b="0">
                <a:solidFill>
                  <a:srgbClr val="0F2A3D"/>
                </a:solidFill>
                <a:latin typeface="Calibri"/>
              </a:rPr>
              <a:t>•  7. Display board shows who’s in</a:t>
            </a:r>
          </a:p>
          <a:p>
            <a:pPr>
              <a:spcAft>
                <a:spcPts val="1000"/>
              </a:spcAft>
            </a:pPr>
            <a:r>
              <a:rPr sz="1500" b="0">
                <a:solidFill>
                  <a:srgbClr val="0F2A3D"/>
                </a:solidFill>
                <a:latin typeface="Calibri"/>
              </a:rPr>
              <a:t>•  8. Reports &amp; corrections keep trust</a:t>
            </a:r>
          </a:p>
        </p:txBody>
      </p:sp>
      <p:sp>
        <p:nvSpPr>
          <p:cNvPr id="6" name="TextBox 5"/>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11/15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Assumptions we build on</a:t>
            </a:r>
          </a:p>
          <a:p>
            <a:r>
              <a:rPr sz="1400" b="0">
                <a:solidFill>
                  <a:srgbClr val="5A6B75"/>
                </a:solidFill>
                <a:latin typeface="Calibri"/>
              </a:rPr>
              <a:t>Honest foundations for the CEO</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400" b="0">
                <a:solidFill>
                  <a:srgbClr val="0F2A3D"/>
                </a:solidFill>
                <a:latin typeface="Calibri"/>
              </a:rPr>
              <a:t>•  Multi-company (multi-tenant): each organization is isolated</a:t>
            </a:r>
          </a:p>
          <a:p>
            <a:pPr>
              <a:spcAft>
                <a:spcPts val="1000"/>
              </a:spcAft>
            </a:pPr>
            <a:r>
              <a:rPr sz="1400" b="0">
                <a:solidFill>
                  <a:srgbClr val="0F2A3D"/>
                </a:solidFill>
                <a:latin typeface="Calibri"/>
              </a:rPr>
              <a:t>•  Physical presence matters — GPS geofence is the proof of being at the office</a:t>
            </a:r>
          </a:p>
          <a:p>
            <a:pPr>
              <a:spcAft>
                <a:spcPts val="1000"/>
              </a:spcAft>
            </a:pPr>
            <a:r>
              <a:rPr sz="1400" b="0">
                <a:solidFill>
                  <a:srgbClr val="0F2A3D"/>
                </a:solidFill>
                <a:latin typeface="Calibri"/>
              </a:rPr>
              <a:t>•  One primary office + work schedule per employee is the default model</a:t>
            </a:r>
          </a:p>
          <a:p>
            <a:pPr>
              <a:spcAft>
                <a:spcPts val="1000"/>
              </a:spcAft>
            </a:pPr>
            <a:r>
              <a:rPr sz="1400" b="0">
                <a:solidFill>
                  <a:srgbClr val="0F2A3D"/>
                </a:solidFill>
                <a:latin typeface="Calibri"/>
              </a:rPr>
              <a:t>•  Leave and holidays should block check-in (no double counting the day)</a:t>
            </a:r>
          </a:p>
          <a:p>
            <a:pPr>
              <a:spcAft>
                <a:spcPts val="1000"/>
              </a:spcAft>
            </a:pPr>
            <a:r>
              <a:rPr sz="1400" b="0">
                <a:solidFill>
                  <a:srgbClr val="0F2A3D"/>
                </a:solidFill>
                <a:latin typeface="Calibri"/>
              </a:rPr>
              <a:t>•  Ethiopia-first defaults (timezone, holiday calendar, bilingual employee UX) — expandable</a:t>
            </a:r>
          </a:p>
          <a:p>
            <a:pPr>
              <a:spcAft>
                <a:spcPts val="1000"/>
              </a:spcAft>
            </a:pPr>
            <a:r>
              <a:rPr sz="1400" b="0">
                <a:solidFill>
                  <a:srgbClr val="0F2A3D"/>
                </a:solidFill>
                <a:latin typeface="Calibri"/>
              </a:rPr>
              <a:t>•  Tasks are operational work; they do not replace attendance proof</a:t>
            </a:r>
          </a:p>
          <a:p>
            <a:pPr>
              <a:spcAft>
                <a:spcPts val="1000"/>
              </a:spcAft>
            </a:pPr>
            <a:r>
              <a:rPr sz="1400" b="0">
                <a:solidFill>
                  <a:srgbClr val="0F2A3D"/>
                </a:solidFill>
                <a:latin typeface="Calibri"/>
              </a:rPr>
              <a:t>•  Roles are clear: Platform → Company Admin → Office Admin → Employee</a:t>
            </a:r>
          </a:p>
        </p:txBody>
      </p:sp>
      <p:sp>
        <p:nvSpPr>
          <p:cNvPr id="6" name="TextBox 5"/>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12/15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Long-term direction</a:t>
            </a:r>
          </a:p>
          <a:p>
            <a:r>
              <a:rPr sz="1400" b="0">
                <a:solidFill>
                  <a:srgbClr val="5A6B75"/>
                </a:solidFill>
                <a:latin typeface="Calibri"/>
              </a:rPr>
              <a:t>Not complex today — designed to grow without rebuild</a:t>
            </a:r>
          </a:p>
        </p:txBody>
      </p:sp>
      <p:sp>
        <p:nvSpPr>
          <p:cNvPr id="5" name="Rounded Rectangle 4"/>
          <p:cNvSpPr/>
          <p:nvPr/>
        </p:nvSpPr>
        <p:spPr>
          <a:xfrm>
            <a:off x="502920" y="1234440"/>
            <a:ext cx="5394960" cy="475488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109728" cy="475488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63040"/>
            <a:ext cx="4846320" cy="457200"/>
          </a:xfrm>
          <a:prstGeom prst="rect">
            <a:avLst/>
          </a:prstGeom>
          <a:noFill/>
        </p:spPr>
        <p:txBody>
          <a:bodyPr wrap="none">
            <a:spAutoFit/>
          </a:bodyPr>
          <a:lstStyle/>
          <a:p>
            <a:r>
              <a:rPr sz="1800" b="1">
                <a:solidFill>
                  <a:srgbClr val="0F2A3D"/>
                </a:solidFill>
                <a:latin typeface="Calibri"/>
              </a:rPr>
              <a:t>Strong foundation already</a:t>
            </a:r>
          </a:p>
        </p:txBody>
      </p:sp>
      <p:sp>
        <p:nvSpPr>
          <p:cNvPr id="8" name="TextBox 7"/>
          <p:cNvSpPr txBox="1"/>
          <p:nvPr/>
        </p:nvSpPr>
        <p:spPr>
          <a:xfrm>
            <a:off x="822960" y="2057400"/>
            <a:ext cx="4846320" cy="3657600"/>
          </a:xfrm>
          <a:prstGeom prst="rect">
            <a:avLst/>
          </a:prstGeom>
          <a:noFill/>
        </p:spPr>
        <p:txBody>
          <a:bodyPr wrap="square">
            <a:spAutoFit/>
          </a:bodyPr>
          <a:lstStyle/>
          <a:p>
            <a:pPr>
              <a:spcAft>
                <a:spcPts val="800"/>
              </a:spcAft>
            </a:pPr>
            <a:r>
              <a:rPr sz="1300" b="0">
                <a:solidFill>
                  <a:srgbClr val="0F2A3D"/>
                </a:solidFill>
                <a:latin typeface="Calibri"/>
              </a:rPr>
              <a:t>•  One backend for all apps</a:t>
            </a:r>
          </a:p>
          <a:p>
            <a:pPr>
              <a:spcAft>
                <a:spcPts val="800"/>
              </a:spcAft>
            </a:pPr>
            <a:r>
              <a:rPr sz="1300" b="0">
                <a:solidFill>
                  <a:srgbClr val="0F2A3D"/>
                </a:solidFill>
                <a:latin typeface="Calibri"/>
              </a:rPr>
              <a:t>•  Permission codes + office scope</a:t>
            </a:r>
          </a:p>
          <a:p>
            <a:pPr>
              <a:spcAft>
                <a:spcPts val="800"/>
              </a:spcAft>
            </a:pPr>
            <a:r>
              <a:rPr sz="1300" b="0">
                <a:solidFill>
                  <a:srgbClr val="0F2A3D"/>
                </a:solidFill>
                <a:latin typeface="Calibri"/>
              </a:rPr>
              <a:t>•  Feature flags per company</a:t>
            </a:r>
          </a:p>
          <a:p>
            <a:pPr>
              <a:spcAft>
                <a:spcPts val="800"/>
              </a:spcAft>
            </a:pPr>
            <a:r>
              <a:rPr sz="1300" b="0">
                <a:solidFill>
                  <a:srgbClr val="0F2A3D"/>
                </a:solidFill>
                <a:latin typeface="Calibri"/>
              </a:rPr>
              <a:t>•  Realtime (admin + display)</a:t>
            </a:r>
          </a:p>
          <a:p>
            <a:pPr>
              <a:spcAft>
                <a:spcPts val="800"/>
              </a:spcAft>
            </a:pPr>
            <a:r>
              <a:rPr sz="1300" b="0">
                <a:solidFill>
                  <a:srgbClr val="0F2A3D"/>
                </a:solidFill>
                <a:latin typeface="Calibri"/>
              </a:rPr>
              <a:t>•  Audit trail &amp; correction flows</a:t>
            </a:r>
          </a:p>
          <a:p>
            <a:pPr>
              <a:spcAft>
                <a:spcPts val="800"/>
              </a:spcAft>
            </a:pPr>
            <a:r>
              <a:rPr sz="1300" b="0">
                <a:solidFill>
                  <a:srgbClr val="0F2A3D"/>
                </a:solidFill>
                <a:latin typeface="Calibri"/>
              </a:rPr>
              <a:t>•  Embedded Task Operations</a:t>
            </a:r>
          </a:p>
        </p:txBody>
      </p:sp>
      <p:sp>
        <p:nvSpPr>
          <p:cNvPr id="9" name="Rounded Rectangle 8"/>
          <p:cNvSpPr/>
          <p:nvPr/>
        </p:nvSpPr>
        <p:spPr>
          <a:xfrm>
            <a:off x="6355080" y="1234440"/>
            <a:ext cx="5394960" cy="475488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234440"/>
            <a:ext cx="109728" cy="475488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463040"/>
            <a:ext cx="4846320" cy="457200"/>
          </a:xfrm>
          <a:prstGeom prst="rect">
            <a:avLst/>
          </a:prstGeom>
          <a:noFill/>
        </p:spPr>
        <p:txBody>
          <a:bodyPr wrap="none">
            <a:spAutoFit/>
          </a:bodyPr>
          <a:lstStyle/>
          <a:p>
            <a:r>
              <a:rPr sz="1800" b="1">
                <a:solidFill>
                  <a:srgbClr val="0F2A3D"/>
                </a:solidFill>
                <a:latin typeface="Calibri"/>
              </a:rPr>
              <a:t>Natural next horizon</a:t>
            </a:r>
          </a:p>
        </p:txBody>
      </p:sp>
      <p:sp>
        <p:nvSpPr>
          <p:cNvPr id="12" name="TextBox 11"/>
          <p:cNvSpPr txBox="1"/>
          <p:nvPr/>
        </p:nvSpPr>
        <p:spPr>
          <a:xfrm>
            <a:off x="6675120" y="2057400"/>
            <a:ext cx="4846320" cy="3657600"/>
          </a:xfrm>
          <a:prstGeom prst="rect">
            <a:avLst/>
          </a:prstGeom>
          <a:noFill/>
        </p:spPr>
        <p:txBody>
          <a:bodyPr wrap="square">
            <a:spAutoFit/>
          </a:bodyPr>
          <a:lstStyle/>
          <a:p>
            <a:pPr>
              <a:spcAft>
                <a:spcPts val="800"/>
              </a:spcAft>
            </a:pPr>
            <a:r>
              <a:rPr sz="1300" b="0">
                <a:solidFill>
                  <a:srgbClr val="0F2A3D"/>
                </a:solidFill>
                <a:latin typeface="Calibri"/>
              </a:rPr>
              <a:t>•  More offices / tenants at scale</a:t>
            </a:r>
          </a:p>
          <a:p>
            <a:pPr>
              <a:spcAft>
                <a:spcPts val="800"/>
              </a:spcAft>
            </a:pPr>
            <a:r>
              <a:rPr sz="1300" b="0">
                <a:solidFill>
                  <a:srgbClr val="0F2A3D"/>
                </a:solidFill>
                <a:latin typeface="Calibri"/>
              </a:rPr>
              <a:t>•  Deeper analytics for leaders</a:t>
            </a:r>
          </a:p>
          <a:p>
            <a:pPr>
              <a:spcAft>
                <a:spcPts val="800"/>
              </a:spcAft>
            </a:pPr>
            <a:r>
              <a:rPr sz="1300" b="0">
                <a:solidFill>
                  <a:srgbClr val="0F2A3D"/>
                </a:solidFill>
                <a:latin typeface="Calibri"/>
              </a:rPr>
              <a:t>•  Richer performance &amp; goals</a:t>
            </a:r>
          </a:p>
          <a:p>
            <a:pPr>
              <a:spcAft>
                <a:spcPts val="800"/>
              </a:spcAft>
            </a:pPr>
            <a:r>
              <a:rPr sz="1300" b="0">
                <a:solidFill>
                  <a:srgbClr val="0F2A3D"/>
                </a:solidFill>
                <a:latin typeface="Calibri"/>
              </a:rPr>
              <a:t>•  Stronger display / meeting ops</a:t>
            </a:r>
          </a:p>
          <a:p>
            <a:pPr>
              <a:spcAft>
                <a:spcPts val="800"/>
              </a:spcAft>
            </a:pPr>
            <a:r>
              <a:rPr sz="1300" b="0">
                <a:solidFill>
                  <a:srgbClr val="0F2A3D"/>
                </a:solidFill>
                <a:latin typeface="Calibri"/>
              </a:rPr>
              <a:t>•  More automation (policies)</a:t>
            </a:r>
          </a:p>
          <a:p>
            <a:pPr>
              <a:spcAft>
                <a:spcPts val="800"/>
              </a:spcAft>
            </a:pPr>
            <a:r>
              <a:rPr sz="1300" b="0">
                <a:solidFill>
                  <a:srgbClr val="0F2A3D"/>
                </a:solidFill>
                <a:latin typeface="Calibri"/>
              </a:rPr>
              <a:t>•  Modules without a second identity</a:t>
            </a:r>
          </a:p>
        </p:txBody>
      </p:sp>
      <p:sp>
        <p:nvSpPr>
          <p:cNvPr id="13" name="TextBox 12"/>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13/15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0972800" cy="822960"/>
          </a:xfrm>
          <a:prstGeom prst="rect">
            <a:avLst/>
          </a:prstGeom>
          <a:noFill/>
        </p:spPr>
        <p:txBody>
          <a:bodyPr wrap="square">
            <a:spAutoFit/>
          </a:bodyPr>
          <a:lstStyle/>
          <a:p>
            <a:r>
              <a:rPr sz="2800" b="1">
                <a:solidFill>
                  <a:srgbClr val="0F2A3D"/>
                </a:solidFill>
                <a:latin typeface="Calibri"/>
              </a:rPr>
              <a:t>CEO takeaway</a:t>
            </a:r>
          </a:p>
          <a:p>
            <a:r>
              <a:rPr sz="1400" b="0">
                <a:solidFill>
                  <a:srgbClr val="5A6B75"/>
                </a:solidFill>
                <a:latin typeface="Calibri"/>
              </a:rPr>
              <a:t>Easy to explain. Hard to fake. Ready to scale.</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500" b="0">
                <a:solidFill>
                  <a:srgbClr val="0F2A3D"/>
                </a:solidFill>
                <a:latin typeface="Calibri"/>
              </a:rPr>
              <a:t>•  Workforce is the system of truth for office presence and people operations</a:t>
            </a:r>
          </a:p>
          <a:p>
            <a:pPr>
              <a:spcAft>
                <a:spcPts val="1000"/>
              </a:spcAft>
            </a:pPr>
            <a:r>
              <a:rPr sz="1500" b="0">
                <a:solidFill>
                  <a:srgbClr val="0F2A3D"/>
                </a:solidFill>
                <a:latin typeface="Calibri"/>
              </a:rPr>
              <a:t>•  Setup is simple: map the office, set hours, assign people — then the day runs</a:t>
            </a:r>
          </a:p>
          <a:p>
            <a:pPr>
              <a:spcAft>
                <a:spcPts val="1000"/>
              </a:spcAft>
            </a:pPr>
            <a:r>
              <a:rPr sz="1500" b="0">
                <a:solidFill>
                  <a:srgbClr val="0F2A3D"/>
                </a:solidFill>
                <a:latin typeface="Calibri"/>
              </a:rPr>
              <a:t>•  Check-in/out + leave + chat + tasks + performance share one company identity</a:t>
            </a:r>
          </a:p>
          <a:p>
            <a:pPr>
              <a:spcAft>
                <a:spcPts val="1000"/>
              </a:spcAft>
            </a:pPr>
            <a:r>
              <a:rPr sz="1500" b="0">
                <a:solidFill>
                  <a:srgbClr val="0F2A3D"/>
                </a:solidFill>
                <a:latin typeface="Calibri"/>
              </a:rPr>
              <a:t>•  Problem solved: less guesswork, less spreadsheet ops, more trustworthy records</a:t>
            </a:r>
          </a:p>
          <a:p>
            <a:pPr>
              <a:spcAft>
                <a:spcPts val="1000"/>
              </a:spcAft>
            </a:pPr>
            <a:r>
              <a:rPr sz="1500" b="0">
                <a:solidFill>
                  <a:srgbClr val="0F2A3D"/>
                </a:solidFill>
                <a:latin typeface="Calibri"/>
              </a:rPr>
              <a:t>•  Foundation is strong: clear roles, geofence proof, automation safety nets, room to grow</a:t>
            </a:r>
          </a:p>
        </p:txBody>
      </p:sp>
      <p:sp>
        <p:nvSpPr>
          <p:cNvPr id="6" name="TextBox 5"/>
          <p:cNvSpPr txBox="1"/>
          <p:nvPr/>
        </p:nvSpPr>
        <p:spPr>
          <a:xfrm>
            <a:off x="457200" y="6446520"/>
            <a:ext cx="9144000" cy="274320"/>
          </a:xfrm>
          <a:prstGeom prst="rect">
            <a:avLst/>
          </a:prstGeom>
          <a:noFill/>
        </p:spPr>
        <p:txBody>
          <a:bodyPr wrap="none">
            <a:spAutoFit/>
          </a:bodyPr>
          <a:lstStyle/>
          <a:p>
            <a:r>
              <a:rPr sz="1000" b="0">
                <a:solidFill>
                  <a:srgbClr val="5A6B75"/>
                </a:solidFill>
                <a:latin typeface="Calibri"/>
              </a:rPr>
              <a:t>Workforce  ·  Confidential CEO Briefing  ·  14/15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058400" cy="2286000"/>
          </a:xfrm>
          <a:prstGeom prst="rect">
            <a:avLst/>
          </a:prstGeom>
          <a:noFill/>
        </p:spPr>
        <p:txBody>
          <a:bodyPr wrap="none">
            <a:spAutoFit/>
          </a:bodyPr>
          <a:lstStyle/>
          <a:p>
            <a:r>
              <a:rPr sz="3200" b="1">
                <a:solidFill>
                  <a:srgbClr val="FFFFFF"/>
                </a:solidFill>
                <a:latin typeface="Calibri"/>
              </a:rPr>
              <a:t>Ready for discussion</a:t>
            </a:r>
          </a:p>
          <a:p>
            <a:pPr>
              <a:spcBef>
                <a:spcPts val="1200"/>
              </a:spcBef>
            </a:pPr>
            <a:r>
              <a:rPr sz="1500" b="0">
                <a:solidFill>
                  <a:srgbClr val="B8C5CD"/>
                </a:solidFill>
                <a:latin typeface="Calibri"/>
              </a:rPr>
              <a:t>Workforce · Office attendance &amp; people operations
Questions, priorities, and next milestones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